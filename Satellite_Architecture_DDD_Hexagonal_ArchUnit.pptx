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  <a:latin typeface="Arial"/>
              </a:defRPr>
            </a:pPr>
            <a:r>
              <a:t>SATELLITE MANAGEMENT SYSTEM</a:t>
            </a:r>
          </a:p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Mastering Enterprise Java Architecture</a:t>
            </a:r>
          </a:p>
          <a:p>
            <a:pPr>
              <a:defRPr sz="2000">
                <a:solidFill>
                  <a:srgbClr val="F59E0B"/>
                </a:solidFill>
                <a:latin typeface="Arial"/>
              </a:defRPr>
            </a:pPr>
            <a:r>
              <a:t>Domain-Driven Design (DDD)  |  Hexagonal Architecture  |  ArchUnit</a:t>
            </a:r>
          </a:p>
          <a:p>
            <a:br/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 Production-Grade Spring Boot Reference Project with Executable Architecture Controls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4846320"/>
            <a:ext cx="329184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8FAFC"/>
                </a:solidFill>
              </a:defRPr>
            </a:pPr>
            <a:r>
              <a:t>1. DDD Core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Rich Aggregates &amp; Value Objects with pure Java business invariants.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4846320"/>
            <a:ext cx="329184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8FAFC"/>
                </a:solidFill>
              </a:defRPr>
            </a:pPr>
            <a:r>
              <a:t>2. Hexagonal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Inward Ports &amp; Adapters isolating business logic from HTTP &amp; JPA.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4846320"/>
            <a:ext cx="329184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8FAFC"/>
                </a:solidFill>
              </a:defRPr>
            </a:pPr>
            <a:r>
              <a:t>3. ArchUnit Guardrails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Automated JUnit 5 tests failing the build if rules are violated.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CHALLENGES IN TRADITIONAL ENTERPRISE JAVA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Problem: Architectural Decay &amp; Framework Coupling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F59E0B"/>
                </a:solidFill>
              </a:defRPr>
            </a:pPr>
            <a:r>
              <a:t>Traditional 3-Tier Pitfalls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• Anemic Domain Models: </a:t>
            </a:r>
            <a:r>
              <a:rPr b="0">
                <a:solidFill>
                  <a:srgbClr val="94A3B8"/>
                </a:solidFill>
              </a:rPr>
              <a:t>Entities are empty data shells (getters/setters). Business logic leaks into 2,000-line Spring @Services.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• Framework Lock-in: </a:t>
            </a:r>
            <a:r>
              <a:rPr b="0">
                <a:solidFill>
                  <a:srgbClr val="94A3B8"/>
                </a:solidFill>
              </a:rPr>
              <a:t>@Entity, @Table, and Jackson annotations blur domain boundaries with database and HTTP concerns.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• Architectural Drift: </a:t>
            </a:r>
            <a:r>
              <a:rPr b="0">
                <a:solidFill>
                  <a:srgbClr val="94A3B8"/>
                </a:solidFill>
              </a:rPr>
              <a:t>Over time, Controllers bypass Services to call DAOs, creating cyclic dependencies and untestable spaghetti code.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• Manual Reviews Don't Scale: </a:t>
            </a:r>
            <a:r>
              <a:rPr b="0">
                <a:solidFill>
                  <a:srgbClr val="94A3B8"/>
                </a:solidFill>
              </a:rPr>
              <a:t>PR code reviews miss subtle architecture violations under tight deadline pressure.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EF4444"/>
                </a:solidFill>
              </a:defRPr>
            </a:pPr>
            <a:r>
              <a:t>Impact on Delivery &amp; Quality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✖ Slow Unit Testing: </a:t>
            </a:r>
            <a:r>
              <a:rPr b="0">
                <a:solidFill>
                  <a:srgbClr val="94A3B8"/>
                </a:solidFill>
              </a:rPr>
              <a:t>Cannot test core rules without booting full Spring context &amp; DB.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✖ Risk of Upgrades: </a:t>
            </a:r>
            <a:r>
              <a:rPr b="0">
                <a:solidFill>
                  <a:srgbClr val="94A3B8"/>
                </a:solidFill>
              </a:rPr>
              <a:t>Upgrading Spring or changing DB vendors breaks business logic.</a:t>
            </a:r>
          </a:p>
          <a:p>
            <a:pPr>
              <a:defRPr b="1" sz="1400">
                <a:solidFill>
                  <a:srgbClr val="F8FAFC"/>
                </a:solidFill>
              </a:defRPr>
            </a:pPr>
            <a:r>
              <a:t>✖ High Technical Debt: </a:t>
            </a:r>
            <a:r>
              <a:rPr b="0">
                <a:solidFill>
                  <a:srgbClr val="94A3B8"/>
                </a:solidFill>
              </a:rPr>
              <a:t>New developers struggle to know where business rules belong.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PURE BUSINESS LOGIC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1: Domain-Driven Design (DDD) Core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3B82F6"/>
                </a:solidFill>
              </a:defRPr>
            </a:pPr>
            <a:r>
              <a:t>Standalone Domain Architecture</a:t>
            </a:r>
          </a:p>
          <a:p>
            <a:pPr>
              <a:defRPr b="1" sz="1300">
                <a:solidFill>
                  <a:srgbClr val="F8FAFC"/>
                </a:solidFill>
              </a:defRPr>
            </a:pPr>
            <a:r>
              <a:t>✔ Domain Core (Heart): </a:t>
            </a:r>
            <a:r>
              <a:rPr b="0">
                <a:solidFill>
                  <a:srgbClr val="94A3B8"/>
                </a:solidFill>
              </a:rPr>
              <a:t>Contains Aggregate Root (Satellite), Value Objects (Orbit, Telemetry), and Domain Events.</a:t>
            </a:r>
          </a:p>
          <a:p>
            <a:pPr>
              <a:defRPr b="1" sz="1300">
                <a:solidFill>
                  <a:srgbClr val="F8FAFC"/>
                </a:solidFill>
              </a:defRPr>
            </a:pPr>
            <a:r>
              <a:t>✔ Zero Annotations: </a:t>
            </a:r>
            <a:r>
              <a:rPr b="0">
                <a:solidFill>
                  <a:srgbClr val="94A3B8"/>
                </a:solidFill>
              </a:rPr>
              <a:t>No @Entity, @Table, @Component, or @JsonProperty. 100% pure Java code.</a:t>
            </a:r>
          </a:p>
          <a:p>
            <a:pPr>
              <a:defRPr b="1" sz="1300">
                <a:solidFill>
                  <a:srgbClr val="F8FAFC"/>
                </a:solidFill>
              </a:defRPr>
            </a:pPr>
            <a:r>
              <a:t>✔ Rich Domain Invariants: </a:t>
            </a:r>
            <a:r>
              <a:rPr b="0">
                <a:solidFill>
                  <a:srgbClr val="94A3B8"/>
                </a:solidFill>
              </a:rPr>
              <a:t>State transitions (REGISTERED -&gt; ACTIVE -&gt; ANOMALY) are controlled internally by the aggregate.</a:t>
            </a:r>
          </a:p>
          <a:p>
            <a:pPr>
              <a:defRPr b="1" sz="1300">
                <a:solidFill>
                  <a:srgbClr val="F8FAFC"/>
                </a:solidFill>
              </a:defRPr>
            </a:pPr>
            <a:r>
              <a:t>✔ Self-Validating Value Objects: </a:t>
            </a:r>
            <a:r>
              <a:rPr b="0">
                <a:solidFill>
                  <a:srgbClr val="94A3B8"/>
                </a:solidFill>
              </a:rPr>
              <a:t>Orbit validates altitude constraints (LEO &lt; 2000 km, GEO ~35,786 km) at instant of creation.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371600"/>
            <a:ext cx="493776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Code Snippet: Pure Java Aggregate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// Pure Java Aggregate Root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public class Satellite {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  private final SatelliteId id;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  private Orbit orbit;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  private SatelliteStatus status;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  public void launch() {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    ensureCanTransitionTo(ACTIVE);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    this.status = ACTIVE;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    this.domainEvents.add(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      new SatelliteLaunchedEvent(...));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  }</a:t>
            </a:r>
          </a:p>
          <a:p>
            <a:pPr>
              <a:defRPr sz="1200">
                <a:solidFill>
                  <a:srgbClr val="F8FAFC"/>
                </a:solidFill>
                <a:latin typeface="Courier New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PORTS &amp; ADAPTERS CONCEPT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2A: Hexagonal Architecture (Real-World Car Analogy)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3B82F6"/>
                </a:solidFill>
              </a:defRPr>
            </a:pPr>
            <a:r>
              <a:t>DRIVING ADAPTERS (Inputs)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Foot Gas Pedal</a:t>
            </a:r>
            <a:br/>
            <a:r>
              <a:t>Cruise Control Button</a:t>
            </a:r>
            <a:br/>
            <a:r>
              <a:t>Mobile App Remote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64592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59E0B"/>
                </a:solidFill>
              </a:defRPr>
            </a:pPr>
            <a:r>
              <a:t>INPUT PORTS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Throttle Socket Interface</a:t>
            </a:r>
            <a:br/>
            <a:r>
              <a:t>(Standard Contract)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0B981"/>
                </a:solidFill>
              </a:defRPr>
            </a:pPr>
            <a:r>
              <a:t>CORE ENGINE (Hexagon)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Engine Cylinder &amp;</a:t>
            </a:r>
            <a:br/>
            <a:r>
              <a:t>Combustion Rules</a:t>
            </a:r>
            <a:br/>
            <a:r>
              <a:t>(Independent Core)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3B82F6"/>
                </a:solidFill>
              </a:defRPr>
            </a:pPr>
            <a:r>
              <a:t>OUTPUT PORTS &amp; ADAPTERS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Fuel Port -&gt; Petrol Tank / Battery</a:t>
            </a:r>
            <a:br/>
            <a:r>
              <a:t>Drivetrain Port -&gt; Wheels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CODEBASE MAPPING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2B: Hexagonal Architecture in Satellite Codebase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0B981"/>
                </a:solidFill>
              </a:defRPr>
            </a:pPr>
            <a:r>
              <a:t>1. Driving Adapters (REST)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SatelliteController parses HTTP JSON -&gt; calls Inbound Port interface.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64592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0B981"/>
                </a:solidFill>
              </a:defRPr>
            </a:pPr>
            <a:r>
              <a:t>2. Inbound Ports (Domain)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LaunchSatelliteUseCase &amp; UpdateTelemetryUseCase interfaces defined in domain.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0B981"/>
                </a:solidFill>
              </a:defRPr>
            </a:pPr>
            <a:r>
              <a:t>3. Outbound Ports (Domain)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SatelliteRepository interface defined in domain using domain types.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0B981"/>
                </a:solidFill>
              </a:defRPr>
            </a:pPr>
            <a:r>
              <a:t>4. Driven Adapters (JPA)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SatelliteJpaAdapter implements SatelliteRepository &amp; converts to SatelliteJpaEntity.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CLEAN ARCHITECTURE LAYOUT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Package Structure &amp; Separation of Concerns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com.satellite</a:t>
            </a:r>
          </a:p>
          <a:p>
            <a:pPr>
              <a:defRPr sz="1400" b="1">
                <a:solidFill>
                  <a:srgbClr val="F8FAFC"/>
                </a:solidFill>
                <a:latin typeface="Courier New"/>
              </a:defRPr>
            </a:pPr>
            <a:r>
              <a:t>├── domain/                  </a:t>
            </a:r>
            <a:r>
              <a:rPr b="0">
                <a:solidFill>
                  <a:srgbClr val="94A3B8"/>
                </a:solidFill>
                <a:latin typeface="Arial"/>
              </a:rPr>
              <a:t>🔴 PURE JAVA (Inner Core: Satellite, Orbit, Telemetry, Ports)</a:t>
            </a:r>
          </a:p>
          <a:p>
            <a:pPr>
              <a:defRPr sz="1400" b="1">
                <a:solidFill>
                  <a:srgbClr val="F8FAFC"/>
                </a:solidFill>
                <a:latin typeface="Courier New"/>
              </a:defRPr>
            </a:pPr>
            <a:r>
              <a:t>├── application/             </a:t>
            </a:r>
            <a:r>
              <a:rPr b="0">
                <a:solidFill>
                  <a:srgbClr val="94A3B8"/>
                </a:solidFill>
                <a:latin typeface="Arial"/>
              </a:rPr>
              <a:t>🟡 ORCHESTRATION LAYER (Services: LaunchSatelliteService)</a:t>
            </a:r>
          </a:p>
          <a:p>
            <a:pPr>
              <a:defRPr sz="1400" b="1">
                <a:solidFill>
                  <a:srgbClr val="F8FAFC"/>
                </a:solidFill>
                <a:latin typeface="Courier New"/>
              </a:defRPr>
            </a:pPr>
            <a:r>
              <a:t>├── adapter/                 </a:t>
            </a:r>
            <a:r>
              <a:rPr b="0">
                <a:solidFill>
                  <a:srgbClr val="94A3B8"/>
                </a:solidFill>
                <a:latin typeface="Arial"/>
              </a:rPr>
              <a:t>🟢 INFRASTRUCTURE LAYER (REST Controllers, JPA Entities, Mappers)</a:t>
            </a:r>
          </a:p>
          <a:p>
            <a:pPr>
              <a:defRPr sz="1400" b="1">
                <a:solidFill>
                  <a:srgbClr val="F8FAFC"/>
                </a:solidFill>
                <a:latin typeface="Courier New"/>
              </a:defRPr>
            </a:pPr>
            <a:r>
              <a:t>└── config/                  </a:t>
            </a:r>
            <a:r>
              <a:rPr b="0">
                <a:solidFill>
                  <a:srgbClr val="94A3B8"/>
                </a:solidFill>
                <a:latin typeface="Arial"/>
              </a:rPr>
              <a:t>🔵 COMPOSITION ROOT (BeanConfig: Wires Ports to Adapters)</a:t>
            </a:r>
          </a:p>
          <a:p>
            <a:br/>
            <a:pPr>
              <a:defRPr b="1" sz="1400">
                <a:solidFill>
                  <a:srgbClr val="10B981"/>
                </a:solidFill>
              </a:defRPr>
            </a:pPr>
            <a:r>
              <a:t>Key Rule: Satellite (Domain Aggregate) ≠ SatelliteJpaEntity (Database Table) ≠ SatelliteResponse (REST DTO)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AUTOMATED BUILD GATES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3: ArchUnit — Architecture as Executable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3B82F6"/>
                </a:solidFill>
              </a:defRPr>
            </a:pPr>
            <a:r>
              <a:t>ArchUnit Test Code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@ArchTest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static final ArchRule domainMustBePure =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noClasses()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.that().resideInAPackage("..domain..")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.should().dependOnClassesThat()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.resideInAnyPackage(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   "..adapter..", "..application..")</a:t>
            </a:r>
          </a:p>
          <a:p>
            <a:pPr>
              <a:defRPr sz="1100">
                <a:solidFill>
                  <a:srgbClr val="F8FAFC"/>
                </a:solidFill>
                <a:latin typeface="Courier New"/>
              </a:defRPr>
            </a:pPr>
            <a:r>
              <a:t>    .because("Domain must be independent");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371600"/>
            <a:ext cx="493776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14 Enforced Architectural Rules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1. Domain layer purity (Zero adapter/app dependencies)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2. No JPA/Spring annotations in domain models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3. Controllers must depend on Ports, not Services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4. Outbound adapters must implement outbound ports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5. Naming conventions (*Service, *Adapter, *Controller)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6. No cyclic dependencies between layers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HANDS-ON WALKTHROUGH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Live Demo Plan &amp; Execution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Step 1: Code Tour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Inspect Satellite.java aggregate, Orbit value object, and Hexagonal Architecture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474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Step 2: Break ArchUnit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Add @Entity to Satellite.java -&gt; Run 'mvn test' -&gt; Watch build fail with explicit violation log!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645920"/>
            <a:ext cx="3474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F59E0B"/>
                </a:solidFill>
              </a:defRPr>
            </a:pPr>
            <a:r>
              <a:t>Step 3: REST API Execution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Run 'mvn spring-boot:run' -&gt; Launch satellite -&gt; Update telemetry -&gt; Trigger automatic Anomaly Alert event.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WHY ADOPT THIS PATTERN?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Key Business &amp; Technical Benefits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⚡ Ultra-Fast Unit Testing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Domain logic unit tests run in milliseconds without booting Spring or DB containers.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🛡️ Zero Architectural Drift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ArchUnit fails CI/CD builds instantly if anyone breaks layer boundaries.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🔄 Seamless Infrastructure Swaps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Replace JPA with MongoDB or Spring Events with Kafka without touching 1 line of domain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🎯 High Business Alignment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Domain code speaks the exact language of satellite flight operations.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Arial"/>
              </a:defRPr>
            </a:pPr>
            <a:r>
              <a:t>SUMMARY &amp; Q&amp;A</a:t>
            </a:r>
          </a:p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Conclusion &amp; GitHub Repository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18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F59E0B"/>
                </a:solidFill>
              </a:defRPr>
            </a:pPr>
            <a:r>
              <a:t>Project Summary &amp; Takeaways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Domain-Driven Design keeps core business rules clean, testable, and rich.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Hexagonal Architecture isolates business logic from Spring, JPA, and HTTP infrastructure.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ArchUnit automates governance, acting as an unbypassable build gate in CI/CD pipelines.</a:t>
            </a:r>
          </a:p>
          <a:p>
            <a:pPr>
              <a:defRPr sz="1400">
                <a:solidFill>
                  <a:srgbClr val="F8FAFC"/>
                </a:solidFill>
              </a:defRPr>
            </a:pP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t>GitHub Repository: https://github.com/hykuBipin/DDD_HEXAGONAL_ARCHUNIT_NEW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