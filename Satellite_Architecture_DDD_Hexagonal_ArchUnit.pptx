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645920"/>
            <a:ext cx="103327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B82F6"/>
                </a:solidFill>
                <a:latin typeface="Arial"/>
              </a:defRPr>
            </a:pPr>
            <a:r>
              <a:t>SATELLITE MANAGEMENT SYSTEM</a:t>
            </a:r>
          </a:p>
          <a:p>
            <a:pPr>
              <a:defRPr sz="3600" b="1">
                <a:solidFill>
                  <a:srgbClr val="F8FAFC"/>
                </a:solidFill>
                <a:latin typeface="Arial"/>
              </a:defRPr>
            </a:pPr>
            <a:r>
              <a:t>Mastering Enterprise Java Architecture</a:t>
            </a:r>
          </a:p>
          <a:p>
            <a:pPr>
              <a:defRPr sz="2000">
                <a:solidFill>
                  <a:srgbClr val="F59E0B"/>
                </a:solidFill>
                <a:latin typeface="Arial"/>
              </a:defRPr>
            </a:pPr>
            <a:r>
              <a:t>Domain-Driven Design (DDD)  |  Hexagonal Architecture  |  ArchUnit</a:t>
            </a:r>
          </a:p>
          <a:p>
            <a:br/>
            <a:pPr>
              <a:defRPr sz="1400">
                <a:solidFill>
                  <a:srgbClr val="94A3B8"/>
                </a:solidFill>
                <a:latin typeface="Arial"/>
              </a:defRPr>
            </a:pPr>
            <a:r>
              <a:t>A Production-Grade Spring Boot Reference Project with Executable Architecture Controls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4846320"/>
            <a:ext cx="3291840" cy="12801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600">
                <a:solidFill>
                  <a:srgbClr val="F8FAFC"/>
                </a:solidFill>
              </a:defRPr>
            </a:pPr>
            <a:r>
              <a:t>1. DDD Core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Rich Aggregates &amp; Value Objects with pure Java business invariants.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434840" y="4846320"/>
            <a:ext cx="3291840" cy="12801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600">
                <a:solidFill>
                  <a:srgbClr val="F8FAFC"/>
                </a:solidFill>
              </a:defRPr>
            </a:pPr>
            <a:r>
              <a:t>2. Hexagonal Architecture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Inward Ports &amp; Adapters isolating business logic from HTTP &amp; JPA.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955279" y="4846320"/>
            <a:ext cx="3291840" cy="12801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600">
                <a:solidFill>
                  <a:srgbClr val="F8FAFC"/>
                </a:solidFill>
              </a:defRPr>
            </a:pPr>
            <a:r>
              <a:t>3. ArchUnit Guardrails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Automated JUnit 5 tests failing the build if rules are violated.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B82F6"/>
                </a:solidFill>
                <a:latin typeface="Arial"/>
              </a:defRPr>
            </a:pPr>
            <a:r>
              <a:t>CHALLENGES IN TRADITIONAL ENTERPRISE JAVA</a:t>
            </a:r>
          </a:p>
          <a:p>
            <a:pPr>
              <a:defRPr sz="2400" b="1">
                <a:solidFill>
                  <a:srgbClr val="F8FAFC"/>
                </a:solidFill>
                <a:latin typeface="Arial"/>
              </a:defRPr>
            </a:pPr>
            <a:r>
              <a:t>The Problem: Architectural Decay &amp; Framework Coupling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5120640" cy="47548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800">
                <a:solidFill>
                  <a:srgbClr val="F59E0B"/>
                </a:solidFill>
              </a:defRPr>
            </a:pPr>
            <a:r>
              <a:t>Traditional 3-Tier Pitfalls</a:t>
            </a:r>
          </a:p>
          <a:p>
            <a:pPr>
              <a:defRPr b="1" sz="1400">
                <a:solidFill>
                  <a:srgbClr val="F8FAFC"/>
                </a:solidFill>
              </a:defRPr>
            </a:pPr>
            <a:r>
              <a:t>• Anemic Domain Models: </a:t>
            </a:r>
            <a:r>
              <a:rPr b="0">
                <a:solidFill>
                  <a:srgbClr val="94A3B8"/>
                </a:solidFill>
              </a:rPr>
              <a:t>Entities are empty data shells (getters/setters). Business logic leaks into 2,000-line Spring @Services.</a:t>
            </a:r>
          </a:p>
          <a:p>
            <a:pPr>
              <a:defRPr b="1" sz="1400">
                <a:solidFill>
                  <a:srgbClr val="F8FAFC"/>
                </a:solidFill>
              </a:defRPr>
            </a:pPr>
            <a:r>
              <a:t>• Framework Lock-in: </a:t>
            </a:r>
            <a:r>
              <a:rPr b="0">
                <a:solidFill>
                  <a:srgbClr val="94A3B8"/>
                </a:solidFill>
              </a:rPr>
              <a:t>@Entity, @Table, and Jackson annotations blur domain boundaries with database and HTTP concerns.</a:t>
            </a:r>
          </a:p>
          <a:p>
            <a:pPr>
              <a:defRPr b="1" sz="1400">
                <a:solidFill>
                  <a:srgbClr val="F8FAFC"/>
                </a:solidFill>
              </a:defRPr>
            </a:pPr>
            <a:r>
              <a:t>• Architectural Drift: </a:t>
            </a:r>
            <a:r>
              <a:rPr b="0">
                <a:solidFill>
                  <a:srgbClr val="94A3B8"/>
                </a:solidFill>
              </a:rPr>
              <a:t>Over time, Controllers bypass Services to call DAOs, creating cyclic dependencies and untestable code.</a:t>
            </a:r>
          </a:p>
          <a:p>
            <a:pPr>
              <a:defRPr b="1" sz="1400">
                <a:solidFill>
                  <a:srgbClr val="F8FAFC"/>
                </a:solidFill>
              </a:defRPr>
            </a:pPr>
            <a:r>
              <a:t>• Manual Reviews Don't Scale: </a:t>
            </a:r>
            <a:r>
              <a:rPr b="0">
                <a:solidFill>
                  <a:srgbClr val="94A3B8"/>
                </a:solidFill>
              </a:rPr>
              <a:t>PR code reviews miss subtle architecture violations under tight deadline pressure.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0" y="1371600"/>
            <a:ext cx="5212080" cy="47548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800">
                <a:solidFill>
                  <a:srgbClr val="EF4444"/>
                </a:solidFill>
              </a:defRPr>
            </a:pPr>
            <a:r>
              <a:t>Impact on Delivery &amp; Quality</a:t>
            </a:r>
          </a:p>
          <a:p>
            <a:pPr>
              <a:defRPr b="1" sz="1400">
                <a:solidFill>
                  <a:srgbClr val="F8FAFC"/>
                </a:solidFill>
              </a:defRPr>
            </a:pPr>
            <a:r>
              <a:t>✖ Slow Unit Testing: </a:t>
            </a:r>
            <a:r>
              <a:rPr b="0">
                <a:solidFill>
                  <a:srgbClr val="94A3B8"/>
                </a:solidFill>
              </a:rPr>
              <a:t>Cannot test core rules without booting full Spring context &amp; DB.</a:t>
            </a:r>
          </a:p>
          <a:p>
            <a:pPr>
              <a:defRPr b="1" sz="1400">
                <a:solidFill>
                  <a:srgbClr val="F8FAFC"/>
                </a:solidFill>
              </a:defRPr>
            </a:pPr>
            <a:r>
              <a:t>✖ Risk of Upgrades: </a:t>
            </a:r>
            <a:r>
              <a:rPr b="0">
                <a:solidFill>
                  <a:srgbClr val="94A3B8"/>
                </a:solidFill>
              </a:rPr>
              <a:t>Upgrading Spring or changing DB vendors breaks business logic.</a:t>
            </a:r>
          </a:p>
          <a:p>
            <a:pPr>
              <a:defRPr b="1" sz="1400">
                <a:solidFill>
                  <a:srgbClr val="F8FAFC"/>
                </a:solidFill>
              </a:defRPr>
            </a:pPr>
            <a:r>
              <a:t>✖ High Technical Debt: </a:t>
            </a:r>
            <a:r>
              <a:rPr b="0">
                <a:solidFill>
                  <a:srgbClr val="94A3B8"/>
                </a:solidFill>
              </a:rPr>
              <a:t>New developers struggle to know where business rules belong.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B82F6"/>
                </a:solidFill>
                <a:latin typeface="Arial"/>
              </a:defRPr>
            </a:pPr>
            <a:r>
              <a:t>PURE BUSINESS LOGIC CORE</a:t>
            </a:r>
          </a:p>
          <a:p>
            <a:pPr>
              <a:defRPr sz="2400" b="1">
                <a:solidFill>
                  <a:srgbClr val="F8FAFC"/>
                </a:solidFill>
                <a:latin typeface="Arial"/>
              </a:defRPr>
            </a:pPr>
            <a:r>
              <a:t>Pillar 1: Domain-Driven Design (DDD) Architecture</a:t>
            </a:r>
          </a:p>
        </p:txBody>
      </p:sp>
      <p:pic>
        <p:nvPicPr>
          <p:cNvPr id="3" name="Picture 2" descr="diagram_dd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10698480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B82F6"/>
                </a:solidFill>
                <a:latin typeface="Arial"/>
              </a:defRPr>
            </a:pPr>
            <a:r>
              <a:t>PORTS &amp; ADAPTERS CONCEPTUAL MODEL</a:t>
            </a:r>
          </a:p>
          <a:p>
            <a:pPr>
              <a:defRPr sz="2400" b="1">
                <a:solidFill>
                  <a:srgbClr val="F8FAFC"/>
                </a:solidFill>
                <a:latin typeface="Arial"/>
              </a:defRPr>
            </a:pPr>
            <a:r>
              <a:t>Pillar 2A: Hexagonal Architecture Concept (Real-World Car Analogy)</a:t>
            </a:r>
          </a:p>
        </p:txBody>
      </p:sp>
      <p:pic>
        <p:nvPicPr>
          <p:cNvPr id="3" name="Picture 2" descr="diagram_car_analog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10698480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B82F6"/>
                </a:solidFill>
                <a:latin typeface="Arial"/>
              </a:defRPr>
            </a:pPr>
            <a:r>
              <a:t>APPLICATION INFRASTRUCTURE MAPPING</a:t>
            </a:r>
          </a:p>
          <a:p>
            <a:pPr>
              <a:defRPr sz="2400" b="1">
                <a:solidFill>
                  <a:srgbClr val="F8FAFC"/>
                </a:solidFill>
                <a:latin typeface="Arial"/>
              </a:defRPr>
            </a:pPr>
            <a:r>
              <a:t>Pillar 2B: Hexagonal Architecture in Satellite Codebase</a:t>
            </a:r>
          </a:p>
        </p:txBody>
      </p:sp>
      <p:pic>
        <p:nvPicPr>
          <p:cNvPr id="3" name="Picture 2" descr="diagram_satellite_he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10698480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B82F6"/>
                </a:solidFill>
                <a:latin typeface="Arial"/>
              </a:defRPr>
            </a:pPr>
            <a:r>
              <a:t>CLEAN ARCHITECTURE LAYOUT</a:t>
            </a:r>
          </a:p>
          <a:p>
            <a:pPr>
              <a:defRPr sz="2400" b="1">
                <a:solidFill>
                  <a:srgbClr val="F8FAFC"/>
                </a:solidFill>
                <a:latin typeface="Arial"/>
              </a:defRPr>
            </a:pPr>
            <a:r>
              <a:t>Package Structure &amp; Separation of Concerns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10698480" cy="47548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600">
                <a:solidFill>
                  <a:srgbClr val="F59E0B"/>
                </a:solidFill>
              </a:defRPr>
            </a:pPr>
            <a:r>
              <a:t>com.satellite</a:t>
            </a:r>
          </a:p>
          <a:p>
            <a:pPr>
              <a:defRPr sz="1400" b="1">
                <a:solidFill>
                  <a:srgbClr val="F8FAFC"/>
                </a:solidFill>
                <a:latin typeface="Courier New"/>
              </a:defRPr>
            </a:pPr>
            <a:r>
              <a:t>├── domain/                  </a:t>
            </a:r>
            <a:r>
              <a:rPr b="0">
                <a:solidFill>
                  <a:srgbClr val="94A3B8"/>
                </a:solidFill>
                <a:latin typeface="Arial"/>
              </a:rPr>
              <a:t>🔴 PURE JAVA (Inner Core: Satellite, Orbit, Telemetry, Ports)</a:t>
            </a:r>
          </a:p>
          <a:p>
            <a:pPr>
              <a:defRPr sz="1400" b="1">
                <a:solidFill>
                  <a:srgbClr val="F8FAFC"/>
                </a:solidFill>
                <a:latin typeface="Courier New"/>
              </a:defRPr>
            </a:pPr>
            <a:r>
              <a:t>├── application/             </a:t>
            </a:r>
            <a:r>
              <a:rPr b="0">
                <a:solidFill>
                  <a:srgbClr val="94A3B8"/>
                </a:solidFill>
                <a:latin typeface="Arial"/>
              </a:rPr>
              <a:t>🟡 ORCHESTRATION LAYER (Services: LaunchSatelliteService)</a:t>
            </a:r>
          </a:p>
          <a:p>
            <a:pPr>
              <a:defRPr sz="1400" b="1">
                <a:solidFill>
                  <a:srgbClr val="F8FAFC"/>
                </a:solidFill>
                <a:latin typeface="Courier New"/>
              </a:defRPr>
            </a:pPr>
            <a:r>
              <a:t>├── adapter/                 </a:t>
            </a:r>
            <a:r>
              <a:rPr b="0">
                <a:solidFill>
                  <a:srgbClr val="94A3B8"/>
                </a:solidFill>
                <a:latin typeface="Arial"/>
              </a:rPr>
              <a:t>🟢 INFRASTRUCTURE LAYER (REST Controllers, JPA Entities, Mappers)</a:t>
            </a:r>
          </a:p>
          <a:p>
            <a:pPr>
              <a:defRPr sz="1400" b="1">
                <a:solidFill>
                  <a:srgbClr val="F8FAFC"/>
                </a:solidFill>
                <a:latin typeface="Courier New"/>
              </a:defRPr>
            </a:pPr>
            <a:r>
              <a:t>└── config/                  </a:t>
            </a:r>
            <a:r>
              <a:rPr b="0">
                <a:solidFill>
                  <a:srgbClr val="94A3B8"/>
                </a:solidFill>
                <a:latin typeface="Arial"/>
              </a:rPr>
              <a:t>🔵 COMPOSITION ROOT (BeanConfig: Wires Ports to Adapters)</a:t>
            </a:r>
          </a:p>
          <a:p>
            <a:br/>
            <a:pPr>
              <a:defRPr b="1" sz="1400">
                <a:solidFill>
                  <a:srgbClr val="10B981"/>
                </a:solidFill>
              </a:defRPr>
            </a:pPr>
            <a:r>
              <a:t>Key Rule: Satellite (Domain Aggregate) ≠ SatelliteJpaEntity (Database Table) ≠ SatelliteResponse (REST DTO)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B82F6"/>
                </a:solidFill>
                <a:latin typeface="Arial"/>
              </a:defRPr>
            </a:pPr>
            <a:r>
              <a:t>AUTOMATED BUILD GATES</a:t>
            </a:r>
          </a:p>
          <a:p>
            <a:pPr>
              <a:defRPr sz="2400" b="1">
                <a:solidFill>
                  <a:srgbClr val="F8FAFC"/>
                </a:solidFill>
                <a:latin typeface="Arial"/>
              </a:defRPr>
            </a:pPr>
            <a:r>
              <a:t>Pillar 3: ArchUnit — Architecture as Executable Code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5486400" cy="47548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600">
                <a:solidFill>
                  <a:srgbClr val="3B82F6"/>
                </a:solidFill>
              </a:defRPr>
            </a:pPr>
            <a:r>
              <a:t>ArchUnit Test Code</a:t>
            </a:r>
          </a:p>
          <a:p>
            <a:pPr>
              <a:defRPr sz="1100">
                <a:solidFill>
                  <a:srgbClr val="F8FAFC"/>
                </a:solidFill>
                <a:latin typeface="Courier New"/>
              </a:defRPr>
            </a:pPr>
            <a:r>
              <a:t>@ArchTest</a:t>
            </a:r>
          </a:p>
          <a:p>
            <a:pPr>
              <a:defRPr sz="1100">
                <a:solidFill>
                  <a:srgbClr val="F8FAFC"/>
                </a:solidFill>
                <a:latin typeface="Courier New"/>
              </a:defRPr>
            </a:pPr>
            <a:r>
              <a:t>static final ArchRule domainMustBePure =</a:t>
            </a:r>
          </a:p>
          <a:p>
            <a:pPr>
              <a:defRPr sz="1100">
                <a:solidFill>
                  <a:srgbClr val="F8FAFC"/>
                </a:solidFill>
                <a:latin typeface="Courier New"/>
              </a:defRPr>
            </a:pPr>
            <a:r>
              <a:t>  noClasses()</a:t>
            </a:r>
          </a:p>
          <a:p>
            <a:pPr>
              <a:defRPr sz="1100">
                <a:solidFill>
                  <a:srgbClr val="F8FAFC"/>
                </a:solidFill>
                <a:latin typeface="Courier New"/>
              </a:defRPr>
            </a:pPr>
            <a:r>
              <a:t>    .that().resideInAPackage("..domain..")</a:t>
            </a:r>
          </a:p>
          <a:p>
            <a:pPr>
              <a:defRPr sz="1100">
                <a:solidFill>
                  <a:srgbClr val="F8FAFC"/>
                </a:solidFill>
                <a:latin typeface="Courier New"/>
              </a:defRPr>
            </a:pPr>
            <a:r>
              <a:t>    .should().dependOnClassesThat()</a:t>
            </a:r>
          </a:p>
          <a:p>
            <a:pPr>
              <a:defRPr sz="1100">
                <a:solidFill>
                  <a:srgbClr val="F8FAFC"/>
                </a:solidFill>
                <a:latin typeface="Courier New"/>
              </a:defRPr>
            </a:pPr>
            <a:r>
              <a:t>    .resideInAnyPackage(</a:t>
            </a:r>
          </a:p>
          <a:p>
            <a:pPr>
              <a:defRPr sz="1100">
                <a:solidFill>
                  <a:srgbClr val="F8FAFC"/>
                </a:solidFill>
                <a:latin typeface="Courier New"/>
              </a:defRPr>
            </a:pPr>
            <a:r>
              <a:t>       "..adapter..", "..application..")</a:t>
            </a:r>
          </a:p>
          <a:p>
            <a:pPr>
              <a:defRPr sz="1100">
                <a:solidFill>
                  <a:srgbClr val="F8FAFC"/>
                </a:solidFill>
                <a:latin typeface="Courier New"/>
              </a:defRPr>
            </a:pPr>
            <a:r>
              <a:t>    .because("Domain must be independent");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92240" y="1371600"/>
            <a:ext cx="4937760" cy="47548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600">
                <a:solidFill>
                  <a:srgbClr val="F59E0B"/>
                </a:solidFill>
              </a:defRPr>
            </a:pPr>
            <a:r>
              <a:t>14 Enforced Architectural Rules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✔ 1. Domain layer purity (Zero adapter/app dependencies)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✔ 2. No JPA/Spring annotations in domain models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✔ 3. Controllers must depend on Ports, not Services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✔ 4. Outbound adapters must implement outbound ports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✔ 5. Naming conventions (*Service, *Adapter, *Controller)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✔ 6. No cyclic dependencies between layers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B82F6"/>
                </a:solidFill>
                <a:latin typeface="Arial"/>
              </a:defRPr>
            </a:pPr>
            <a:r>
              <a:t>HANDS-ON WALKTHROUGH</a:t>
            </a:r>
          </a:p>
          <a:p>
            <a:pPr>
              <a:defRPr sz="2400" b="1">
                <a:solidFill>
                  <a:srgbClr val="F8FAFC"/>
                </a:solidFill>
                <a:latin typeface="Arial"/>
              </a:defRPr>
            </a:pPr>
            <a:r>
              <a:t>Live Demo Plan &amp; Execution Steps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3474720" cy="4389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600">
                <a:solidFill>
                  <a:srgbClr val="F59E0B"/>
                </a:solidFill>
              </a:defRPr>
            </a:pPr>
            <a:r>
              <a:t>Step 1: Code Tour</a:t>
            </a:r>
          </a:p>
          <a:p>
            <a:br/>
            <a:pPr>
              <a:defRPr sz="1400">
                <a:solidFill>
                  <a:srgbClr val="F8FAFC"/>
                </a:solidFill>
              </a:defRPr>
            </a:pPr>
            <a:r>
              <a:t>Inspect Satellite.java aggregate, Orbit value object, and Hexagonal Architecture tests.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389120" y="1645920"/>
            <a:ext cx="3474720" cy="4389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600">
                <a:solidFill>
                  <a:srgbClr val="F59E0B"/>
                </a:solidFill>
              </a:defRPr>
            </a:pPr>
            <a:r>
              <a:t>Step 2: Break ArchUnit</a:t>
            </a:r>
          </a:p>
          <a:p>
            <a:br/>
            <a:pPr>
              <a:defRPr sz="1400">
                <a:solidFill>
                  <a:srgbClr val="F8FAFC"/>
                </a:solidFill>
              </a:defRPr>
            </a:pPr>
            <a:r>
              <a:t>Add @Entity to Satellite.java -&gt; Run 'mvn test' -&gt; Watch build fail with explicit violation log!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955279" y="1645920"/>
            <a:ext cx="3474720" cy="4389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600">
                <a:solidFill>
                  <a:srgbClr val="F59E0B"/>
                </a:solidFill>
              </a:defRPr>
            </a:pPr>
            <a:r>
              <a:t>Step 3: REST API Execution</a:t>
            </a:r>
          </a:p>
          <a:p>
            <a:br/>
            <a:pPr>
              <a:defRPr sz="1400">
                <a:solidFill>
                  <a:srgbClr val="F8FAFC"/>
                </a:solidFill>
              </a:defRPr>
            </a:pPr>
            <a:r>
              <a:t>Run 'mvn spring-boot:run' -&gt; Launch satellite -&gt; Update telemetry -&gt; Trigger automatic Anomaly Alert event.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B82F6"/>
                </a:solidFill>
                <a:latin typeface="Arial"/>
              </a:defRPr>
            </a:pPr>
            <a:r>
              <a:t>WHY ADOPT THIS PATTERN?</a:t>
            </a:r>
          </a:p>
          <a:p>
            <a:pPr>
              <a:defRPr sz="2400" b="1">
                <a:solidFill>
                  <a:srgbClr val="F8FAFC"/>
                </a:solidFill>
                <a:latin typeface="Arial"/>
              </a:defRPr>
            </a:pPr>
            <a:r>
              <a:t>Key Business &amp; Technical Benefits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5212080" cy="2103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600">
                <a:solidFill>
                  <a:srgbClr val="10B981"/>
                </a:solidFill>
              </a:defRPr>
            </a:pPr>
            <a:r>
              <a:t>⚡ Ultra-Fast Unit Testing</a:t>
            </a:r>
          </a:p>
          <a:p>
            <a:br/>
            <a:pPr>
              <a:defRPr sz="1300">
                <a:solidFill>
                  <a:srgbClr val="F8FAFC"/>
                </a:solidFill>
              </a:defRPr>
            </a:pPr>
            <a:r>
              <a:t>Domain logic unit tests run in milliseconds without booting Spring or DB containers.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0" y="1645920"/>
            <a:ext cx="5212080" cy="2103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600">
                <a:solidFill>
                  <a:srgbClr val="10B981"/>
                </a:solidFill>
              </a:defRPr>
            </a:pPr>
            <a:r>
              <a:t>🛡️ Zero Architectural Drift</a:t>
            </a:r>
          </a:p>
          <a:p>
            <a:br/>
            <a:pPr>
              <a:defRPr sz="1300">
                <a:solidFill>
                  <a:srgbClr val="F8FAFC"/>
                </a:solidFill>
              </a:defRPr>
            </a:pPr>
            <a:r>
              <a:t>ArchUnit fails CI/CD builds instantly if anyone breaks layer boundaries.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3931920"/>
            <a:ext cx="5212080" cy="2103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600">
                <a:solidFill>
                  <a:srgbClr val="10B981"/>
                </a:solidFill>
              </a:defRPr>
            </a:pPr>
            <a:r>
              <a:t>🔄 Seamless Infrastructure Swaps</a:t>
            </a:r>
          </a:p>
          <a:p>
            <a:br/>
            <a:pPr>
              <a:defRPr sz="1300">
                <a:solidFill>
                  <a:srgbClr val="F8FAFC"/>
                </a:solidFill>
              </a:defRPr>
            </a:pPr>
            <a:r>
              <a:t>Replace JPA with MongoDB or Spring Events with Kafka without touching 1 line of domain code.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3931920"/>
            <a:ext cx="5212080" cy="2103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600">
                <a:solidFill>
                  <a:srgbClr val="10B981"/>
                </a:solidFill>
              </a:defRPr>
            </a:pPr>
            <a:r>
              <a:t>🎯 High Business Alignment</a:t>
            </a:r>
          </a:p>
          <a:p>
            <a:br/>
            <a:pPr>
              <a:defRPr sz="1300">
                <a:solidFill>
                  <a:srgbClr val="F8FAFC"/>
                </a:solidFill>
              </a:defRPr>
            </a:pPr>
            <a:r>
              <a:t>Domain code speaks the exact language of satellite flight operations.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B82F6"/>
                </a:solidFill>
                <a:latin typeface="Arial"/>
              </a:defRPr>
            </a:pPr>
            <a:r>
              <a:t>SUMMARY &amp; Q&amp;A</a:t>
            </a:r>
          </a:p>
          <a:p>
            <a:pPr>
              <a:defRPr sz="2400" b="1">
                <a:solidFill>
                  <a:srgbClr val="F8FAFC"/>
                </a:solidFill>
                <a:latin typeface="Arial"/>
              </a:defRPr>
            </a:pPr>
            <a:r>
              <a:t>Conclusion &amp; GitHub Repository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371600" y="1645920"/>
            <a:ext cx="9418320" cy="4389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2000">
                <a:solidFill>
                  <a:srgbClr val="F59E0B"/>
                </a:solidFill>
              </a:defRPr>
            </a:pPr>
            <a:r>
              <a:t>Project Summary &amp; Takeaways</a:t>
            </a:r>
          </a:p>
          <a:p>
            <a:pPr>
              <a:defRPr sz="1400">
                <a:solidFill>
                  <a:srgbClr val="F8FAFC"/>
                </a:solidFill>
              </a:defRPr>
            </a:pPr>
            <a:r>
              <a:t>• Domain-Driven Design keeps core business rules clean, testable, and rich.</a:t>
            </a:r>
          </a:p>
          <a:p>
            <a:pPr>
              <a:defRPr sz="1400">
                <a:solidFill>
                  <a:srgbClr val="F8FAFC"/>
                </a:solidFill>
              </a:defRPr>
            </a:pPr>
            <a:r>
              <a:t>• Hexagonal Architecture isolates business logic from Spring, JPA, and HTTP infrastructure.</a:t>
            </a:r>
          </a:p>
          <a:p>
            <a:pPr>
              <a:defRPr sz="1400">
                <a:solidFill>
                  <a:srgbClr val="F8FAFC"/>
                </a:solidFill>
              </a:defRPr>
            </a:pPr>
            <a:r>
              <a:t>• ArchUnit automates governance, acting as an unbypassable build gate in CI/CD pipelines.</a:t>
            </a:r>
          </a:p>
          <a:p>
            <a:pPr>
              <a:defRPr sz="1400">
                <a:solidFill>
                  <a:srgbClr val="F8FAFC"/>
                </a:solidFill>
              </a:defRPr>
            </a:pPr>
          </a:p>
          <a:p>
            <a:pPr>
              <a:defRPr sz="1400" b="1">
                <a:solidFill>
                  <a:srgbClr val="10B981"/>
                </a:solidFill>
              </a:defRPr>
            </a:pPr>
            <a:r>
              <a:t>GitHub Repository: https://github.com/hykuBipin/DDD_HEXAGONAL_ARCHUNIT_NEW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