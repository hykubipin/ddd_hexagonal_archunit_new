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SATELLITE MANAGEMENT SYSTEM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DDD + Hexagonal Architecture + ArchUnit</a:t>
            </a:r>
          </a:p>
          <a:p>
            <a:pPr>
              <a:defRPr sz="1800">
                <a:solidFill>
                  <a:srgbClr val="94A3B8"/>
                </a:solidFill>
              </a:defRPr>
            </a:pPr>
            <a:r>
              <a:t>Complete Architectural Blueprint, Codebase Mapping, &amp; Presentation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1 — DOMAIN-DRIVEN DESIGN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Domain-Driven Design (DDD): What &amp;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F59E0B"/>
                </a:solidFill>
              </a:defRPr>
            </a:pPr>
            <a:r>
              <a:t>What is Domain-Driven Design (DDD)?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A software design approach focused on modeling software to match a complex business domain.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Formulated by Eric Evans, it connects business experts and developers using a Ubiquitous Language.</a:t>
            </a:r>
          </a:p>
          <a:p>
            <a:br/>
            <a:pPr>
              <a:defRPr b="1" sz="2000">
                <a:solidFill>
                  <a:srgbClr val="10B981"/>
                </a:solidFill>
              </a:defRPr>
            </a:pPr>
            <a:r>
              <a:t>Why Do We Need DDD?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Eliminates Anemic Domain Models: Data objects are no longer dumb getters/setters; rules live in the domain.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Bridges Communication Gap: Developers and business stakeholders use identical terminology.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Prevents Architectural Decay: Isolates business rules so infrastructure changes don't corrupt domain logic.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1 — DOMAIN-DRIVEN DESIGN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DDD Components in Satellite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B82F6"/>
                </a:solidFill>
              </a:defRPr>
            </a:pPr>
            <a:r>
              <a:t>• Aggregate Root (Satellite.java):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Core entity managing state machine (REGISTERED -&gt; ACTIVE -&gt; ANOMALY -&gt; DECOMMISSIONED) &amp; invariant enforcement.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Value Objects (Orbit.java, Telemetry.java):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Immutable JDK records with self-validation rules (LEO/GEO altitude checks, anomaly battery/temp thresholds).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Domain Events (SatelliteLaunchedEvent, AnomalyDetectedEvent):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Immutable records representing facts that occurred in the domain, recorded internally by the aggregate.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Strongly-Typed Identity (SatelliteId.java):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Record wrapping UUID to prevent primitive obsession and guarantee type safety across layers.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1 — DOMAIN-DRIVEN DESIGN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How to Implement DDD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0B981"/>
                </a:solidFill>
              </a:defRPr>
            </a:pPr>
            <a:r>
              <a:t>How to Implement DDD in Java 21: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Pure Java Domain Model: Zero imports from Spring, JPA, or Jackson in com.satellite.domain.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Java 21 Records: Use records for Value Objects and Domain Events to guarantee immutability.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State Machine Encapsulation: Keep status transition logic private inside Satellite.java.</a:t>
            </a:r>
          </a:p>
          <a:p>
            <a:br/>
            <a:pPr>
              <a:defRPr b="1" sz="1800">
                <a:solidFill>
                  <a:srgbClr val="F59E0B"/>
                </a:solidFill>
              </a:defRPr>
            </a:pPr>
            <a:r>
              <a:t>Challenges &amp; Mitigations: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Initial Learning Curve -&gt; Start with clear Bounded Contexts &amp; Ubiquitous Language glossary.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Over-engineering simple CRUD -&gt; Use DDD for core business domains; keep simple lookup tables light.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ORM Entity vs Domain Entity confusion -&gt; Explicitly separate SatelliteJpaEntity from Satellite.java aggregate.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1 — DOMAIN-DRIVEN DESIGN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DDD Ubiquitous Language &amp; Subdomains Diagram</a:t>
            </a:r>
          </a:p>
        </p:txBody>
      </p:sp>
      <p:pic>
        <p:nvPicPr>
          <p:cNvPr id="3" name="Picture 2" descr="diagram_ddd_ubiquitous_langu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2 — HEXAGONAL ARCHITECTURE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Hexagonal Architecture (Ports &amp; Adapters): What &amp;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F59E0B"/>
                </a:solidFill>
              </a:defRPr>
            </a:pPr>
            <a:r>
              <a:t>What is Hexagonal Architecture?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An architectural pattern created by Alistair Cockburn that isolates core application logic inside a Hexagon.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Uses Ports (Interfaces) and Adapters (Implementations) so inputs and outputs can be plugged in seamlessly.</a:t>
            </a:r>
          </a:p>
          <a:p>
            <a:br/>
            <a:pPr>
              <a:defRPr b="1" sz="2000">
                <a:solidFill>
                  <a:srgbClr val="10B981"/>
                </a:solidFill>
              </a:defRPr>
            </a:pPr>
            <a:r>
              <a:t>Why Do We Need Hexagonal Architecture?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Decouples Business Logic from External Tools: Database, Web Frameworks, and MQ live outside the Hexagon.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Enables Instant Testing: Domain logic is 100% testable in pure Java without booting Spring or DB (0.01s test execution).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Prevents Technology Lock-in: Swap relational database (H2/Postgres) for MongoDB without changing domain code.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2 — HEXAGONAL ARCHITECTURE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Hexagonal Components in Satellite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B82F6"/>
                </a:solidFill>
              </a:defRPr>
            </a:pPr>
            <a:r>
              <a:t>• Driving Adapters (Inputs):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SatelliteController.java (REST API) &amp; TelemetryConsumer.java (Kafka/CLI stream).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Driving Ports (Inbound Contracts):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LaunchSatelliteUseCase.java &amp; UpdateTelemetryUseCase.java (Interfaces defined in domain.port.in).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Application Core: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LaunchSatelliteService.java — Orchestrates domain objects via ports in pure Java.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Driven Ports (Outbound Contracts):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SatelliteRepository.java &amp; SatelliteEventPublisher.java (Interfaces defined in domain.port.out).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Driven Adapters (Outputs):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 SatelliteJpaAdapter.java (SQL), SatelliteMongoAdapter.java (NoSQL), &amp; SatelliteEventPublisherAdapter.java.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2 — HEXAGONAL ARCHITECTURE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How to Implement Hexagonal Architecture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0B981"/>
                </a:solidFill>
              </a:defRPr>
            </a:pPr>
            <a:r>
              <a:t>How to Implement Hexagonal Architecture: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Package Structure: com.satellite.domain, com.satellite.application, com.satellite.infrastructure.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Inward Dependencies: Infrastructure depends on Application &amp; Domain; Domain depends on NOTHING.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Bean Composition Root: Wire services and adapters in BeanConfig.java inside infrastructure package.</a:t>
            </a:r>
          </a:p>
          <a:p>
            <a:br/>
            <a:pPr>
              <a:defRPr b="1" sz="1800">
                <a:solidFill>
                  <a:srgbClr val="F59E0B"/>
                </a:solidFill>
              </a:defRPr>
            </a:pPr>
            <a:r>
              <a:t>Challenges &amp; Mitigations: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Mapping Overhead (Domain &lt;-&gt; DTO &lt;-&gt; JPA Entity) -&gt; Solved with dedicated mappers (SatellitePersistenceMapper).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More interfaces &amp; classes -&gt; Solved by clear package isolation (ports/in, ports/out).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Risk of developers bypassing ports -&gt; Solved by ArchUnit automated architecture build gates!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2 — HEXAGONAL ARCHITECTURE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Herberto Graça Explicit Architecture Mapping</a:t>
            </a:r>
          </a:p>
        </p:txBody>
      </p:sp>
      <p:pic>
        <p:nvPicPr>
          <p:cNvPr id="3" name="Picture 2" descr="diagram_explici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2 — HEXAGONAL ARCHITECTURE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Multi-Database Adapter Swapping (SQL vs NoSQL)</a:t>
            </a:r>
          </a:p>
        </p:txBody>
      </p:sp>
      <p:pic>
        <p:nvPicPr>
          <p:cNvPr id="3" name="Picture 2" descr="diagram_adapter_sw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3 — ARCHUNIT ENFORCEMENT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ArchUnit Architecture Enforcement: What &amp;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F59E0B"/>
                </a:solidFill>
              </a:defRPr>
            </a:pPr>
            <a:r>
              <a:t>What is ArchUnit?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A Java architecture testing library that checks Java bytecode (.class files) using fluent JUnit 5 tests.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Analyzes package dependencies, class naming conventions, annotation rules, and layer isolation.</a:t>
            </a:r>
          </a:p>
          <a:p>
            <a:br/>
            <a:pPr>
              <a:defRPr b="1" sz="2000">
                <a:solidFill>
                  <a:srgbClr val="10B981"/>
                </a:solidFill>
              </a:defRPr>
            </a:pPr>
            <a:r>
              <a:t>Why Do We Need ArchUnit?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Automates Code Reviews: Architecture rules are checked on every commit in CI/CD pipelines.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Prevents Architectural Erosion: Prevents quick shortcuts (e.g. Controller calling DB Repository directly).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• Runs as a Pre-Packaging Build Gate: Executes during mvn test — FAILS THE BUILD before packaging or deployment!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3 — ARCHUNIT ENFORCEMENT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ArchUnit Rules &amp; Build Gates in Satellite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B82F6"/>
                </a:solidFill>
              </a:defRPr>
            </a:pPr>
            <a:r>
              <a:t>• Domain Purity Rule: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   noClasses().that().resideInAPackage('..domain..').should().dependOnClassesThat().resideInAPackage('..infrastructure..')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No Spring/JPA in Domain: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   noClasses().that().resideInAPackage('..domain.model..').should().beAnnotatedWith('..Entity')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Controller Port Constraint: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   noClasses().that().resideInAPackage('..rest..').should().dependOnClassesThat().resideInAPackage('..application..')</a:t>
            </a:r>
          </a:p>
          <a:p>
            <a:pPr>
              <a:defRPr b="1" sz="1600">
                <a:solidFill>
                  <a:srgbClr val="3B82F6"/>
                </a:solidFill>
              </a:defRPr>
            </a:pPr>
            <a:r>
              <a:t>• Layered Architecture Rule: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   layeredArchitecture().layer('Domain').layer('Application').layer('Infrastructure')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PART 3 — ARCHUNIT ENFORCEMENT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How to Implement ArchUnit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0B981"/>
                </a:solidFill>
              </a:defRPr>
            </a:pPr>
            <a:r>
              <a:t>How to Implement ArchUnit: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Add Maven Dependency: archunit-junit5 (v1.3.0) in pom.xml.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Write Test Class: Annotate with @AnalyzeClasses(packages = 'com.satellite').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Define Rules: Write static @ArchTest rules using ArchRuleDefinition DSL.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1. Lifecycle Execution: Executes automatically post-compilation during mvn test before packaging!</a:t>
            </a:r>
          </a:p>
          <a:p>
            <a:br/>
            <a:pPr>
              <a:defRPr b="1" sz="1800">
                <a:solidFill>
                  <a:srgbClr val="F59E0B"/>
                </a:solidFill>
              </a:defRPr>
            </a:pPr>
            <a:r>
              <a:t>Challenges &amp; Mitigations: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Retrofitting onto legacy codebases -&gt; Solved with FreezingArchRule to freeze existing violations.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Refactoring package structures -&gt; Update package string variables in HexagonalArchitectureTest.java.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SUMMARY &amp; LIVE DEMO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Execution &amp; Live Demo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F59E0B"/>
                </a:solidFill>
              </a:defRPr>
            </a:pPr>
            <a:r>
              <a:t>1. Run Automated Test Suite &amp; ArchUnit Build Gates: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mvn clean test   # Executes 37 unit, integration &amp; ArchUnit tests (0 failures)</a:t>
            </a:r>
          </a:p>
          <a:p>
            <a:br/>
            <a:pPr>
              <a:defRPr b="1" sz="1600">
                <a:solidFill>
                  <a:srgbClr val="10B981"/>
                </a:solidFill>
              </a:defRPr>
            </a:pPr>
            <a:r>
              <a:t>2. Run Spring Boot Application &amp; API Verification: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$ mvn spring-boot:run</a:t>
            </a:r>
            <a:br/>
            <a:r>
              <a:t>  $ curl -X POST http://localhost:8080/api/v1/satellites -d '{...}'</a:t>
            </a:r>
          </a:p>
          <a:p>
            <a:br/>
            <a:pPr>
              <a:defRPr b="1" sz="1600">
                <a:solidFill>
                  <a:srgbClr val="3B82F6"/>
                </a:solidFill>
              </a:defRPr>
            </a:pPr>
            <a:r>
              <a:t>3. Live Layer Conflict Demo (ArchUnit Build Failure):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  • Inject LaunchSatelliteService into SatelliteController.java</a:t>
            </a:r>
            <a:br/>
            <a:r>
              <a:t>  • Run mvn test -&gt; ArchUnit FAILS THE BUILD with explicit violation error report!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